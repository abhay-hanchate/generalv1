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cdecb27-8a2c-8ca4-2474-f0a69f6a1e17}">
          <p14:sldIdLst>
            <p14:sldId id="256"/>
            <p14:sldId id="257"/>
          </p14:sldIdLst>
        </p14:section>
        <p14:section name="CiteGraph" id="{a749b225-00b5-0ea6-a679-0df266d77bb3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LiveCrawl" id="{269c8bd9-27e7-098a-3259-dc789d275a81}">
          <p14:sldIdLst>
            <p14:sldId id="265"/>
            <p14:sldId id="266"/>
            <p14:sldId id="267"/>
            <p14:sldId id="268"/>
            <p14:sldId id="269"/>
          </p14:sldIdLst>
        </p14:section>
        <p14:section name="Wrap-up" id="{8d6d7e63-42f6-07ca-04ef-7346bedcfe29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explain two AI tools in simple words: CiteGraph and LiveCrawl.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cover CiteGraph first in three parts, then LiveCrawl in two parts, and finish with a quick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CiteGraph checks whether AI chatbots recommend your product. It is like SEO, but for AI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habits are shifting to AI. Companies need to know if AI recommends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steps: ask, record, compare, fix, re-check weekly.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 payment company is missing from AI answers. CiteGraph points out simple fixes, and after the changes AI starts mentioning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Benefits: visibility, clear fixes, four AI engines, low cost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users: founders, marketers, and API companies. CiteGraph is new, so no famous customers are public, but this space is growing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LiveCrawl is part of Exa. It fetches the live web page so AI gets fresh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asks, Exa visits the site live, cleans the content, and the AI answers with fresh facts. You can pick between speed and freshness.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for news, events, prices and trends. Benefits: fresh, accurate, clean, flexible.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 is used by Cursor, Cognition, HubSpot, OpenRouter and Monday.com. It is valued at 2.2 billion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comparison: CiteGraph helps you get mentioned by AI, LiveCrawl helps AI read the live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CE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5836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Two AI Tools, Explained Simply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CE0"/>
                </a:solidFill>
              </a:rPr>
              <a:t>CiteGraph  &amp;  LiveCrawl: what they are, how they work, and why they matter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731520" cy="73152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Today’s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6B5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CiteGraph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63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your brand get mentioned BY AI chatbots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83480" y="15544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7373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83480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LiveCrawl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3063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AI read the LIVE web, not old copies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CiteGraph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CE0"/>
                </a:solidFill>
              </a:rPr>
              <a:t>Is AI recommending you, or your competitor?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731520" cy="73152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CiteGraph?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23760" y="41148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checks if AI chatbots like ChatGPT, Claude, Gemini and Perplexity mention your product, and tells you how to get mentioned more.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SEO, but for AI chatbots instead of Google.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GEO: Generative Engine Optimization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23444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ChatGPT: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the best tool for X?”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0" y="233172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40680" y="2331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“Try Competitor A or Competitor B.”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product isn’t mentioned, and you never find 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Does It Matter?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23760" y="41148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731520" cy="73152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changed habits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people ask AI chatbots instead of searching Google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1554480"/>
            <a:ext cx="731520" cy="73152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7373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invisible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see what AI says about you, so you can’t fix it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12648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0" y="1554480"/>
            <a:ext cx="731520" cy="73152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7373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customers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names a competitor, that buyer goes to them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CiteGraph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23760" y="41148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371600"/>
            <a:ext cx="777240" cy="77724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5659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7889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real buyer questions to AI chatbots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28800" y="1627632"/>
            <a:ext cx="365760" cy="274320"/>
          </a:xfrm>
          <a:prstGeom prst="rightArrow">
            <a:avLst/>
          </a:prstGeom>
          <a:solidFill>
            <a:srgbClr val="C9CCE0"/>
          </a:solidFill>
          <a:ln w="12700">
            <a:solidFill>
              <a:srgbClr val="C9CC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0320" y="1371600"/>
            <a:ext cx="777240" cy="77724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630" y="156591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4884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Record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194560" y="27889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every answer and which sites were used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520440" y="1627632"/>
            <a:ext cx="365760" cy="274320"/>
          </a:xfrm>
          <a:prstGeom prst="rightArrow">
            <a:avLst/>
          </a:prstGeom>
          <a:solidFill>
            <a:srgbClr val="C9CCE0"/>
          </a:solidFill>
          <a:ln w="12700">
            <a:solidFill>
              <a:srgbClr val="C9CC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51960" y="1371600"/>
            <a:ext cx="777240" cy="77724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270" y="156591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4048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Compare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3886200" y="27889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where competitors were named, not you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212080" y="1627632"/>
            <a:ext cx="365760" cy="274320"/>
          </a:xfrm>
          <a:prstGeom prst="rightArrow">
            <a:avLst/>
          </a:prstGeom>
          <a:solidFill>
            <a:srgbClr val="C9CCE0"/>
          </a:solidFill>
          <a:ln w="12700">
            <a:solidFill>
              <a:srgbClr val="C9CC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3600" y="1371600"/>
            <a:ext cx="777240" cy="77724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910" y="156591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3212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Fix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577840" y="27889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simple to-do list to fix your pages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903720" y="1627632"/>
            <a:ext cx="365760" cy="274320"/>
          </a:xfrm>
          <a:prstGeom prst="rightArrow">
            <a:avLst/>
          </a:prstGeom>
          <a:solidFill>
            <a:srgbClr val="C9CCE0"/>
          </a:solidFill>
          <a:ln w="12700">
            <a:solidFill>
              <a:srgbClr val="C9CCE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635240" y="1371600"/>
            <a:ext cx="777240" cy="77724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50" y="1565910"/>
            <a:ext cx="388620" cy="3886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2376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Re-check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7269480" y="27889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again every week to see progress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idea: ask AI, see who wins, fix it, repeat.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Simple Example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23760" y="41148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2103120" cy="457200"/>
          </a:xfrm>
          <a:prstGeom prst="roundRect">
            <a:avLst>
              <a:gd name="adj" fmla="val 40000"/>
            </a:avLst>
          </a:prstGeom>
          <a:solidFill>
            <a:srgbClr val="5B6075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031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“Best payment API for startups?”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3 competitors. You are missing.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463040"/>
            <a:ext cx="2103120" cy="457200"/>
          </a:xfrm>
          <a:prstGeom prst="roundRect">
            <a:avLst>
              <a:gd name="adj" fmla="val 40000"/>
            </a:avLst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CiteGraph says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031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docs don’t clearly say ‘for startups’.”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a pricing comparison page.”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463040"/>
            <a:ext cx="2103120" cy="457200"/>
          </a:xfrm>
          <a:prstGeom prst="roundRect">
            <a:avLst>
              <a:gd name="adj" fmla="val 4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1031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make the small fixes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week, AI starts naming you too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Benefits of CiteGraph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23760" y="41148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invisible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828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what AI says about your brand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2344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1554480"/>
            <a:ext cx="731520" cy="73152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373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5216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fixes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1828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to-do list down to single sentences, not vague advice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28346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3154680"/>
            <a:ext cx="731520" cy="73152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375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AIs in one place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645920" y="3429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 and Perplexity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663440" y="28346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92040" y="3154680"/>
            <a:ext cx="731520" cy="73152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3375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85216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to start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5852160" y="3429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first scan, then about $12 per scan or a monthly plan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 Uses CiteGraph?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23760" y="41148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3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know whether AI recommends their startup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17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SEO teams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brand visibility in AI answers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3756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developer-tool companies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1188720" y="3611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now ask AI which tool to use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120640" y="123444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39496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394960" y="18288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CiteGraph is a young, early-stage startup, so no big-name customers have been announced yet.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394960" y="29260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category, AI search visibility, is growing fast as people switch from Google to AI chatbots.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LiveCrawl (by Exa)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CE0"/>
                </a:solidFill>
              </a:rPr>
              <a:t>Giving AI the web as it is right now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LiveCrawl?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23760" y="41148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of Exa, a search engine built for AI apps. It makes Exa visit a web page right now and return the latest version, instead of an old saved copy.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34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AI only knows what it learned in training, and saved copies of pages can be days old.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0" y="123444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57800" y="1554480"/>
            <a:ext cx="731520" cy="731520"/>
          </a:xfrm>
          <a:prstGeom prst="ellipse">
            <a:avLst/>
          </a:prstGeom>
          <a:solidFill>
            <a:srgbClr val="5B6075"/>
          </a:solidFill>
          <a:ln w="12700">
            <a:solidFill>
              <a:srgbClr val="5B607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7373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21792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copy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may be old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0" y="283464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57800" y="315468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33375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1792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LiveCrawl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21792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up-to-the-minute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LiveCrawl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23760" y="41148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80160"/>
            <a:ext cx="822960" cy="8229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14859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app asks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“Get me this web page”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057400" y="1554480"/>
            <a:ext cx="457200" cy="274320"/>
          </a:xfrm>
          <a:prstGeom prst="rightArrow">
            <a:avLst/>
          </a:prstGeom>
          <a:solidFill>
            <a:srgbClr val="C9CCE0"/>
          </a:solidFill>
          <a:ln w="12700">
            <a:solidFill>
              <a:srgbClr val="C9CC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63240" y="1280160"/>
            <a:ext cx="822960" cy="8229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4859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6032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Exa visits live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560320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real site right now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60520" y="1554480"/>
            <a:ext cx="457200" cy="274320"/>
          </a:xfrm>
          <a:prstGeom prst="rightArrow">
            <a:avLst/>
          </a:prstGeom>
          <a:solidFill>
            <a:srgbClr val="C9CCE0"/>
          </a:solidFill>
          <a:ln w="12700">
            <a:solidFill>
              <a:srgbClr val="C9CC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166360" y="1280160"/>
            <a:ext cx="822960" cy="8229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14859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Cleans it up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pages and PDFs into plain text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63640" y="1554480"/>
            <a:ext cx="457200" cy="274320"/>
          </a:xfrm>
          <a:prstGeom prst="rightArrow">
            <a:avLst/>
          </a:prstGeom>
          <a:solidFill>
            <a:srgbClr val="C9CCE0"/>
          </a:solidFill>
          <a:ln w="12700">
            <a:solidFill>
              <a:srgbClr val="C9CC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269480" y="1280160"/>
            <a:ext cx="822960" cy="8229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20" y="14859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76656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answers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766560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fresh, accurate facts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85800" y="3474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the mode:  </a:t>
            </a:r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fresh  ·  Fresh first, saved copy as backup  ·  Saved copy first  ·  Saved copy only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8580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fresh = a bit slower, saved = faster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Use Cases &amp; Benefits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23760" y="41148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it’s used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8173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news &amp; product launches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5031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2377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events: sports, conferences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1889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tracking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38747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749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trends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0292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helps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5029200" y="1783080"/>
            <a:ext cx="34747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stay up to date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wrong or made-up answers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text, ready for AI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tricky pages and PDFs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 speed vs freshness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Famous Companies Using Exa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23760" y="41148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3F4FA"/>
          </a:solidFill>
          <a:ln w="12700">
            <a:solidFill>
              <a:srgbClr val="C9C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39696" y="12344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3F4FA"/>
          </a:solidFill>
          <a:ln w="12700">
            <a:solidFill>
              <a:srgbClr val="C9CC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9696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22192" y="12344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3F4FA"/>
          </a:solidFill>
          <a:ln w="12700">
            <a:solidFill>
              <a:srgbClr val="C9CC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22192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504688" y="12344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3F4FA"/>
          </a:solidFill>
          <a:ln w="12700">
            <a:solidFill>
              <a:srgbClr val="C9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04688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87184" y="12344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3F4FA"/>
          </a:solidFill>
          <a:ln w="12700">
            <a:solidFill>
              <a:srgbClr val="C9CC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87184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Monday.com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$2.2B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 valuation (2026)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use Exa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400K+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top investors: Andreessen Horowitz (a16z) and Benchmark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Side by Side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CiteGraph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LiveCrawl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one 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your brand mentioned BY 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Lets AI read the LIVE web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users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Marketers, founders, API companies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 building AI apps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benefit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and fix AI visibility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Fresh, accurate AI answers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Famous users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Early-stage startup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Cursor, HubSpot, Monday.com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CE0"/>
                </a:solidFill>
              </a:rPr>
              <a:t>Questions?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I Tools">
  <a:themeElements>
    <a:clrScheme name="AI Tools">
      <a:dk1>
        <a:srgbClr val="1B1F3B"/>
      </a:dk1>
      <a:lt1>
        <a:srgbClr val="FFFFFF"/>
      </a:lt1>
      <a:dk2>
        <a:srgbClr val="5B6075"/>
      </a:dk2>
      <a:lt2>
        <a:srgbClr val="F3F4FA"/>
      </a:lt2>
      <a:accent1>
        <a:srgbClr val="FF6B5B"/>
      </a:accent1>
      <a:accent2>
        <a:srgbClr val="14B8A6"/>
      </a:accent2>
      <a:accent3>
        <a:srgbClr val="2A2F55"/>
      </a:accent3>
      <a:accent4>
        <a:srgbClr val="FFC857"/>
      </a:accent4>
      <a:accent5>
        <a:srgbClr val="8B93FF"/>
      </a:accent5>
      <a:accent6>
        <a:srgbClr val="C9CCE0"/>
      </a:accent6>
      <a:hlink>
        <a:srgbClr val="14B8A6"/>
      </a:hlink>
      <a:folHlink>
        <a:srgbClr val="2A2F55"/>
      </a:folHlink>
    </a:clrScheme>
    <a:fontScheme name="AI Tool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Tools: CiteGraph and LiveCrawl</dc:title>
  <dc:subject>PptxGenJS Presentation</dc:subject>
  <dc:creator>PptxGenJS</dc:creator>
  <cp:lastModifiedBy>PptxGenJS</cp:lastModifiedBy>
  <cp:revision>1</cp:revision>
  <dcterms:created xsi:type="dcterms:W3CDTF">2026-10-07T15:39:36Z</dcterms:created>
  <dcterms:modified xsi:type="dcterms:W3CDTF">2026-10-07T15:39:36Z</dcterms:modified>
</cp:coreProperties>
</file>