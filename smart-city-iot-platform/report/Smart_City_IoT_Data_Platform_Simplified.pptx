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1fcde44-e009-4b8c-77ec-2d5252aa9981}">
          <p14:sldIdLst>
            <p14:sldId id="256"/>
            <p14:sldId id="257"/>
          </p14:sldIdLst>
        </p14:section>
        <p14:section name="Data and Pipeline" id="{b2a2b364-d7e6-e225-6919-f13290d88973}">
          <p14:sldIdLst>
            <p14:sldId id="258"/>
            <p14:sldId id="259"/>
            <p14:sldId id="260"/>
          </p14:sldIdLst>
        </p14:section>
        <p14:section name="Real-time and ML" id="{716addf3-73d9-e355-7616-42ae956c7a69}">
          <p14:sldIdLst>
            <p14:sldId id="261"/>
            <p14:sldId id="262"/>
            <p14:sldId id="263"/>
            <p14:sldId id="264"/>
          </p14:sldIdLst>
        </p14:section>
        <p14:section name="Results" id="{0faa72b3-1a59-2607-4c36-e279bcd6a7a1}">
          <p14:sldIdLst>
            <p14:sldId id="265"/>
            <p14:sldId id="266"/>
            <p14:sldId id="267"/>
          </p14:sldIdLst>
        </p14:section>
        <p14:section name="Summary" id="{97b6909b-fe31-b483-6cb7-69865c3d72b7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(cars/hour)</c:v>
                </c:pt>
              </c:strCache>
            </c:strRef>
          </c:tx>
          <c:spPr>
            <a:solidFill>
              <a:srgbClr val="A9B8C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8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8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Guess: same hour last week</c:v>
                  </c:pt>
                  <c:pt idx="1">
                    <c:v>Guess: same as last hour</c:v>
                  </c:pt>
                  <c:pt idx="2">
                    <c:v>Linear Regression</c:v>
                  </c:pt>
                  <c:pt idx="3">
                    <c:v>Random Forest</c:v>
                  </c:pt>
                  <c:pt idx="4">
                    <c:v>GBT (chosen)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7.47</c:v>
                </c:pt>
                <c:pt idx="1">
                  <c:v>5.71</c:v>
                </c:pt>
                <c:pt idx="2">
                  <c:v>4.58</c:v>
                </c:pt>
                <c:pt idx="3">
                  <c:v>4.52</c:v>
                </c:pt>
                <c:pt idx="4">
                  <c:v>4.26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Times faster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&quot;×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Read only needed folders (partition pruning)</c:v>
                  </c:pt>
                  <c:pt idx="1">
                    <c:v>Parquet instead of CSV (also 9× smaller)</c:v>
                  </c:pt>
                  <c:pt idx="2">
                    <c:v>Broadcast join (copy small table)</c:v>
                  </c:pt>
                  <c:pt idx="3">
                    <c:v>Cache reused data</c:v>
                  </c:pt>
                  <c:pt idx="4">
                    <c:v>8 shuffle partitions instead of 200</c:v>
                  </c:pt>
                  <c:pt idx="5">
                    <c:v>Adaptive Query Execution (AQE)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6.4</c:v>
                </c:pt>
                <c:pt idx="1">
                  <c:v>3.9</c:v>
                </c:pt>
                <c:pt idx="2">
                  <c:v>2.5</c:v>
                </c:pt>
                <c:pt idx="3">
                  <c:v>2.1</c:v>
                </c:pt>
                <c:pt idx="4">
                  <c:v>1.8</c:v>
                </c:pt>
                <c:pt idx="5">
                  <c:v>1.4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project builds a small smart-city control room: sensor data comes in, Spark processes it live, a model predicts the next hour, and a dashboard warns the 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simple: two questions. One about traffic in the next hour, one about air quality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Traffic from Kaggle, air quality from UCI, weather from a free API. A replayer program sends one hour of data every second to imitate real sensors.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Sensors write small files into a folder, Spark picks them up every 5 seconds, cleans them, runs the model, saves results, and the dashboard reads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air file had commas as decimals and -200 for missing values. If we did not fix those, the model would learn from fake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measured: median 2.8 seconds, 95% of results within about 5 seconds. Each micro-batch took 0.6 seconds of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models made with Spark MLlib. We always test on later months than we train on, otherwise the model would be peeking at the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Grey bars are simple guesses. Blue and teal are our models. GBT has the smallest error, about 25% better than the best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 fixed number, by 2017 a third of all hours were alerts. Comparing to the same hour over the last four weeks brought it to about 14% and made it fair for every junction.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 from our run. Blue is actual traffic, orange dashed is the forecast, the red dotted line is the alert limit. Triangles are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bar is how many times faster the optimized version was. Best: partition pruning, 6.4 times faster, because Spark skips whole folders.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real problems from the build and how we fixed them. Good to mention during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five steps from the assignment,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Smart City IoT Data Platform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Turning city sensor data into decisions in seconds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6  |  Topics 6.1, 6.3: Real-time pipelines and ML systems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&lt;Name&gt;   |   &lt;Roll No&gt;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347472" cy="34747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640080"/>
            <a:ext cx="347472" cy="347472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640080"/>
            <a:ext cx="347472" cy="347472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64008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The Problem in Simple Words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A city is full of sensors, but raw readings alone don't help anyone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asked two questions a city really cares about:</a:t>
            </a:r>
            <a:endParaRPr lang="en-US" sz="1600" dirty="0"/>
          </a:p>
        </p:txBody>
      </p:sp>
      <p:sp>
        <p:nvSpPr>
          <p:cNvPr id="5" name="question0"/>
          <p:cNvSpPr/>
          <p:nvPr/>
        </p:nvSpPr>
        <p:spPr>
          <a:xfrm>
            <a:off x="457200" y="17373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8745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this junction be jammed in the next hour?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286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traffic police can act before the jam, not after.</a:t>
            </a:r>
            <a:endParaRPr lang="en-US" sz="1400" dirty="0"/>
          </a:p>
        </p:txBody>
      </p:sp>
      <p:sp>
        <p:nvSpPr>
          <p:cNvPr id="9" name="question1"/>
          <p:cNvSpPr/>
          <p:nvPr/>
        </p:nvSpPr>
        <p:spPr>
          <a:xfrm>
            <a:off x="457200" y="29260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004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30632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air dangerous right now?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3474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accurate CO machine is offline 18% of the time, so we estimate CO from cheap sensors.</a:t>
            </a:r>
            <a:endParaRPr lang="en-US" sz="1400" dirty="0"/>
          </a:p>
        </p:txBody>
      </p:sp>
      <p:sp>
        <p:nvSpPr>
          <p:cNvPr id="13" name="takeaway"/>
          <p:cNvSpPr/>
          <p:nvPr/>
        </p:nvSpPr>
        <p:spPr>
          <a:xfrm>
            <a:off x="457200" y="431596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2324A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0080" y="43159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platform that predicts traffic and estimates pollution live, then raises alerts.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Step 1: Our Data Sources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Real, public data in three formats: CSV, CSV and a live API (JSON)</a:t>
            </a:r>
            <a:endParaRPr lang="en-US" sz="1300" dirty="0"/>
          </a:p>
        </p:txBody>
      </p:sp>
      <p:sp>
        <p:nvSpPr>
          <p:cNvPr id="4" name="source0"/>
          <p:cNvSpPr/>
          <p:nvPr/>
        </p:nvSpPr>
        <p:spPr>
          <a:xfrm>
            <a:off x="457200" y="1325880"/>
            <a:ext cx="2606040" cy="2788920"/>
          </a:xfrm>
          <a:prstGeom prst="roundRect">
            <a:avLst>
              <a:gd name="adj" fmla="val 2807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5727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counters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Smart City Traffic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48,120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291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car counts, 4 junctions, 2015–2017</a:t>
            </a:r>
            <a:endParaRPr lang="en-US" sz="1200" dirty="0"/>
          </a:p>
        </p:txBody>
      </p:sp>
      <p:sp>
        <p:nvSpPr>
          <p:cNvPr id="12" name="source1"/>
          <p:cNvSpPr/>
          <p:nvPr/>
        </p:nvSpPr>
        <p:spPr>
          <a:xfrm>
            <a:off x="3246120" y="1325880"/>
            <a:ext cx="2606040" cy="2788920"/>
          </a:xfrm>
          <a:prstGeom prst="roundRect">
            <a:avLst>
              <a:gd name="adj" fmla="val 2807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5087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17720" y="15727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Air-quality station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47472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UCI: Air Quality dataset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9,357</a:t>
            </a:r>
            <a:endParaRPr lang="en-US" sz="3600" dirty="0"/>
          </a:p>
        </p:txBody>
      </p:sp>
      <p:sp>
        <p:nvSpPr>
          <p:cNvPr id="18" name="Text 14"/>
          <p:cNvSpPr txBox="1"/>
          <p:nvPr/>
        </p:nvSpPr>
        <p:spPr>
          <a:xfrm>
            <a:off x="3474720" y="3291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3474720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gas readings (CO, NOx), 2004–2005</a:t>
            </a:r>
            <a:endParaRPr lang="en-US" sz="1200" dirty="0"/>
          </a:p>
        </p:txBody>
      </p:sp>
      <p:sp>
        <p:nvSpPr>
          <p:cNvPr id="20" name="source2"/>
          <p:cNvSpPr/>
          <p:nvPr/>
        </p:nvSpPr>
        <p:spPr>
          <a:xfrm>
            <a:off x="6035040" y="1325880"/>
            <a:ext cx="2606040" cy="2788920"/>
          </a:xfrm>
          <a:prstGeom prst="roundRect">
            <a:avLst>
              <a:gd name="adj" fmla="val 2807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0876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406640" y="15727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→ JSON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26364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station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26364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(free API)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263640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3600" dirty="0"/>
          </a:p>
        </p:txBody>
      </p:sp>
      <p:sp>
        <p:nvSpPr>
          <p:cNvPr id="26" name="Text 21"/>
          <p:cNvSpPr txBox="1"/>
          <p:nvPr/>
        </p:nvSpPr>
        <p:spPr>
          <a:xfrm>
            <a:off x="6263640" y="3291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6263640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rain, wind for the city</a:t>
            </a:r>
            <a:endParaRPr lang="en-US" sz="1200" dirty="0"/>
          </a:p>
        </p:txBody>
      </p:sp>
      <p:sp>
        <p:nvSpPr>
          <p:cNvPr id="28" name="takeaway"/>
          <p:cNvSpPr/>
          <p:nvPr/>
        </p:nvSpPr>
        <p:spPr>
          <a:xfrm>
            <a:off x="457200" y="431596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2324A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40080" y="43159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no real sensors, so a small program replays this real data as if it were arriving live.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Step 2: How the Platform Works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Like a conveyor belt: every step has one job</a:t>
            </a:r>
            <a:endParaRPr lang="en-US" sz="1300" dirty="0"/>
          </a:p>
        </p:txBody>
      </p:sp>
      <p:sp>
        <p:nvSpPr>
          <p:cNvPr id="4" name="step0"/>
          <p:cNvSpPr/>
          <p:nvPr/>
        </p:nvSpPr>
        <p:spPr>
          <a:xfrm>
            <a:off x="457200" y="141732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600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0352" y="21945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6032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replayer sends readings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956816" y="2240280"/>
            <a:ext cx="182880" cy="22860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tep1"/>
          <p:cNvSpPr/>
          <p:nvPr/>
        </p:nvSpPr>
        <p:spPr>
          <a:xfrm>
            <a:off x="2157984" y="141732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16002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31136" y="21945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folder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249424" y="256032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files arrive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657600" y="2240280"/>
            <a:ext cx="182880" cy="22860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step2"/>
          <p:cNvSpPr/>
          <p:nvPr/>
        </p:nvSpPr>
        <p:spPr>
          <a:xfrm>
            <a:off x="3858768" y="141732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6002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31920" y="21945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Streaming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3950208" y="256032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cleans, predicts, alerts every 5 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358384" y="2240280"/>
            <a:ext cx="182880" cy="22860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tep3"/>
          <p:cNvSpPr/>
          <p:nvPr/>
        </p:nvSpPr>
        <p:spPr>
          <a:xfrm>
            <a:off x="5559552" y="141732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160020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32704" y="21945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650992" y="256032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files (raw → clean → results)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7059168" y="2240280"/>
            <a:ext cx="182880" cy="22860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tep4"/>
          <p:cNvSpPr/>
          <p:nvPr/>
        </p:nvSpPr>
        <p:spPr>
          <a:xfrm>
            <a:off x="7260336" y="141732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60020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333488" y="21945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7351776" y="256032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charts and alerts</a:t>
            </a:r>
            <a:endParaRPr lang="en-US" sz="1150" dirty="0"/>
          </a:p>
        </p:txBody>
      </p:sp>
      <p:sp>
        <p:nvSpPr>
          <p:cNvPr id="28" name="batchnote"/>
          <p:cNvSpPr/>
          <p:nvPr/>
        </p:nvSpPr>
        <p:spPr>
          <a:xfrm>
            <a:off x="457200" y="35204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= learn from all past data (train the models).   Streaming = use the models on new data as it arrives.</a:t>
            </a:r>
            <a:endParaRPr lang="en-US" sz="1300" dirty="0"/>
          </a:p>
        </p:txBody>
      </p:sp>
      <p:sp>
        <p:nvSpPr>
          <p:cNvPr id="30" name="takeaway"/>
          <p:cNvSpPr/>
          <p:nvPr/>
        </p:nvSpPr>
        <p:spPr>
          <a:xfrm>
            <a:off x="457200" y="431596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2324A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40080" y="43159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 continuously; results are on screen about 3 seconds after a reading arrives.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Cleaning the Data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Real data is messy; bad data means wrong alerts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023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we found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did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Decimals written with commas ("2,6")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 to normal numbers (2.6)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 written as -200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Marked them as empty, not as a real reading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 blank lines and 2 empty columns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gas column 90% empty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 or missing hours in traffic?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Checked: none found (all 48,120 rows valid)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2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</a:tr>
            </a:tbl>
          </a:graphicData>
        </a:graphic>
      </p:graphicFrame>
      <p:sp>
        <p:nvSpPr>
          <p:cNvPr id="5" name="takeaway"/>
          <p:cNvSpPr/>
          <p:nvPr/>
        </p:nvSpPr>
        <p:spPr>
          <a:xfrm>
            <a:off x="457200" y="431596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2324A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3159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is read with a fixed format (schema), so bad values get caught early.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Step 3: How Fast Is "Real Time"?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We set targets first, then measured what we achieved</a:t>
            </a:r>
            <a:endParaRPr lang="en-US" sz="1300" dirty="0"/>
          </a:p>
        </p:txBody>
      </p:sp>
      <p:sp>
        <p:nvSpPr>
          <p:cNvPr id="4" name="kpi0"/>
          <p:cNvSpPr/>
          <p:nvPr/>
        </p:nvSpPr>
        <p:spPr>
          <a:xfrm>
            <a:off x="45720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 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from reading to result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971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under 10 s</a:t>
            </a:r>
            <a:endParaRPr lang="en-US" sz="1150" dirty="0"/>
          </a:p>
        </p:txBody>
      </p:sp>
      <p:sp>
        <p:nvSpPr>
          <p:cNvPr id="9" name="kpi1"/>
          <p:cNvSpPr/>
          <p:nvPr/>
        </p:nvSpPr>
        <p:spPr>
          <a:xfrm>
            <a:off x="324612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5087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 s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needs per 5-second batch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971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plenty of headroom</a:t>
            </a:r>
            <a:endParaRPr lang="en-US" sz="1150" dirty="0"/>
          </a:p>
        </p:txBody>
      </p:sp>
      <p:sp>
        <p:nvSpPr>
          <p:cNvPr id="14" name="kpi2"/>
          <p:cNvSpPr/>
          <p:nvPr/>
        </p:nvSpPr>
        <p:spPr>
          <a:xfrm>
            <a:off x="603504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087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 lost results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2971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restart (checkpoints)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data:  </a:t>
            </a:r>
            <a:pPr indent="0" marL="0">
              <a:buNone/>
            </a:pPr>
            <a:r>
              <a:rPr lang="en-US" sz="13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reading up to 2 hours late is still counted (watermark). 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is urgent:  </a:t>
            </a:r>
            <a:pPr indent="0" marL="0">
              <a:buNone/>
            </a:pPr>
            <a:r>
              <a:rPr lang="en-US" sz="13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jam alert needs seconds, a monthly report can wait.</a:t>
            </a:r>
            <a:endParaRPr lang="en-US" sz="1300" dirty="0"/>
          </a:p>
        </p:txBody>
      </p:sp>
      <p:sp>
        <p:nvSpPr>
          <p:cNvPr id="20" name="takeaway"/>
          <p:cNvSpPr/>
          <p:nvPr/>
        </p:nvSpPr>
        <p:spPr>
          <a:xfrm>
            <a:off x="457200" y="431596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2324A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40080" y="43159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reached the dashboard in under 6 seconds, well inside our 10-second target.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Step 4: Predicting the Next Hour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Machine learning moves the city from reacting to preparing</a:t>
            </a:r>
            <a:endParaRPr lang="en-US" sz="1300" dirty="0"/>
          </a:p>
        </p:txBody>
      </p:sp>
      <p:sp>
        <p:nvSpPr>
          <p:cNvPr id="4" name="mlTraffic"/>
          <p:cNvSpPr/>
          <p:nvPr/>
        </p:nvSpPr>
        <p:spPr>
          <a:xfrm>
            <a:off x="457200" y="132588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536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forecast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at: last hour, same hour yesterday and last week, time of day, day of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Predicts: cars at each junction next hour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971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2103120" y="30449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error than simply guessing "same as last hour"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GBT, off by about 3 cars/hour on average</a:t>
            </a:r>
            <a:endParaRPr lang="en-US" sz="1200" dirty="0"/>
          </a:p>
        </p:txBody>
      </p:sp>
      <p:sp>
        <p:nvSpPr>
          <p:cNvPr id="11" name="mlAir"/>
          <p:cNvSpPr/>
          <p:nvPr/>
        </p:nvSpPr>
        <p:spPr>
          <a:xfrm>
            <a:off x="4663440" y="132588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0876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94960" y="1536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"soft sensor"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20116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at: 5 cheap gas sensors, temperature, humidity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Estimates: true CO level, even when the expensive machine is offline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892040" y="2971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3800" dirty="0"/>
          </a:p>
        </p:txBody>
      </p:sp>
      <p:sp>
        <p:nvSpPr>
          <p:cNvPr id="16" name="Text 12"/>
          <p:cNvSpPr txBox="1"/>
          <p:nvPr/>
        </p:nvSpPr>
        <p:spPr>
          <a:xfrm>
            <a:off x="6309360" y="30449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hours had no reference reading; we still give a value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89204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by about 0.5 mg/m³ on average, on unseen months</a:t>
            </a:r>
            <a:endParaRPr lang="en-US" sz="1200" dirty="0"/>
          </a:p>
        </p:txBody>
      </p:sp>
      <p:sp>
        <p:nvSpPr>
          <p:cNvPr id="18" name="takeaway"/>
          <p:cNvSpPr/>
          <p:nvPr/>
        </p:nvSpPr>
        <p:spPr>
          <a:xfrm>
            <a:off x="457200" y="431596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2324A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0080" y="43159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tested on months they never saw (time-based split), so the scores are honest.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Did the Model Beat Simple Guessing?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Typical error (RMSE, cars per hour) on the test months March–June 2017; lower is better</a:t>
            </a:r>
            <a:endParaRPr lang="en-US" sz="1300" dirty="0"/>
          </a:p>
        </p:txBody>
      </p:sp>
      <p:graphicFrame>
        <p:nvGraphicFramePr>
          <p:cNvPr id="4" name="modelChart" descr=""/>
          <p:cNvGraphicFramePr/>
          <p:nvPr/>
        </p:nvGraphicFramePr>
        <p:xfrm>
          <a:off x="457200" y="1234440"/>
          <a:ext cx="822960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keaway"/>
          <p:cNvSpPr/>
          <p:nvPr/>
        </p:nvSpPr>
        <p:spPr>
          <a:xfrm>
            <a:off x="457200" y="431596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2324A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3159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ML models beat simple guessing; GBT was best and is the one we use live.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Smart Alerts: When Is Traffic "Unusual"?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A fixed limit stopped working because traffic keeps growing</a:t>
            </a:r>
            <a:endParaRPr lang="en-US" sz="1300" dirty="0"/>
          </a:p>
        </p:txBody>
      </p:sp>
      <p:sp>
        <p:nvSpPr>
          <p:cNvPr id="4" name="alert0"/>
          <p:cNvSpPr/>
          <p:nvPr/>
        </p:nvSpPr>
        <p:spPr>
          <a:xfrm>
            <a:off x="457200" y="1325880"/>
            <a:ext cx="4023360" cy="2788920"/>
          </a:xfrm>
          <a:prstGeom prst="roundRect">
            <a:avLst>
              <a:gd name="adj" fmla="val 2623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limit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47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10% of past hours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44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hours raised an alert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alerts: people ignore them</a:t>
            </a:r>
            <a:endParaRPr lang="en-US" sz="1300" dirty="0"/>
          </a:p>
        </p:txBody>
      </p:sp>
      <p:sp>
        <p:nvSpPr>
          <p:cNvPr id="10" name="alert1"/>
          <p:cNvSpPr/>
          <p:nvPr/>
        </p:nvSpPr>
        <p:spPr>
          <a:xfrm>
            <a:off x="4663440" y="1325880"/>
            <a:ext cx="4023360" cy="2788920"/>
          </a:xfrm>
          <a:prstGeom prst="roundRect">
            <a:avLst>
              <a:gd name="adj" fmla="val 2623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481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adaptive limit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847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10% of the same hour, last 28 days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286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044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hours raised an alert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across junctions, adapts as the city grows</a:t>
            </a:r>
            <a:endParaRPr lang="en-US" sz="1300" dirty="0"/>
          </a:p>
        </p:txBody>
      </p:sp>
      <p:sp>
        <p:nvSpPr>
          <p:cNvPr id="16" name="takeaway"/>
          <p:cNvSpPr/>
          <p:nvPr/>
        </p:nvSpPr>
        <p:spPr>
          <a:xfrm>
            <a:off x="457200" y="431596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2324A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3159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means "busier than normal for this hour", so it stays meaningful over time.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Step 5: The Live Dashboard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Where the data finally becomes a decision</a:t>
            </a:r>
            <a:endParaRPr lang="en-US" sz="1300" dirty="0"/>
          </a:p>
        </p:txBody>
      </p:sp>
      <p:pic>
        <p:nvPicPr>
          <p:cNvPr id="4" name="dashboard" descr="/tmp/claude-0/-home-user-generalv1/cf63b723-8f18-5522-b708-cb6d92679825/scratchpad/simp/dash_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4846320" cy="29718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347472" cy="34747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080760" y="1325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traffic per junction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084832"/>
            <a:ext cx="347472" cy="34747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080760" y="20391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(▲) when a jam is forecast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798064"/>
            <a:ext cx="347472" cy="34747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080760" y="275234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quality: estimate vs real machine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511296"/>
            <a:ext cx="347472" cy="34747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080760" y="346557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health: speed and delay</a:t>
            </a:r>
            <a:endParaRPr lang="en-US" sz="1350" dirty="0"/>
          </a:p>
        </p:txBody>
      </p:sp>
      <p:sp>
        <p:nvSpPr>
          <p:cNvPr id="13" name="takeaway"/>
          <p:cNvSpPr/>
          <p:nvPr/>
        </p:nvSpPr>
        <p:spPr>
          <a:xfrm>
            <a:off x="457200" y="431596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2324A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640080" y="43159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Streamlit; refreshes every 5 seconds with the newest Spark results.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Making Spark Faster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Tested on a ×100 copy of the data (4.8 million rows); how many times faster each trick made it</a:t>
            </a:r>
            <a:endParaRPr lang="en-US" sz="1300" dirty="0"/>
          </a:p>
        </p:txBody>
      </p:sp>
      <p:graphicFrame>
        <p:nvGraphicFramePr>
          <p:cNvPr id="4" name="speedChart" descr=""/>
          <p:cNvGraphicFramePr/>
          <p:nvPr/>
        </p:nvGraphicFramePr>
        <p:xfrm>
          <a:off x="457200" y="1234440"/>
          <a:ext cx="822960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keaway"/>
          <p:cNvSpPr/>
          <p:nvPr/>
        </p:nvSpPr>
        <p:spPr>
          <a:xfrm>
            <a:off x="457200" y="431596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2324A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3159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wins come from reading less data: Parquet files and skipping folders we don't need.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Problems We Hit and How We Solved Them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Being honest about the data made the project better</a:t>
            </a:r>
            <a:endParaRPr lang="en-US" sz="1300" dirty="0"/>
          </a:p>
        </p:txBody>
      </p:sp>
      <p:sp>
        <p:nvSpPr>
          <p:cNvPr id="4" name="lesson0"/>
          <p:cNvSpPr/>
          <p:nvPr/>
        </p:nvSpPr>
        <p:spPr>
          <a:xfrm>
            <a:off x="457200" y="1280160"/>
            <a:ext cx="4023360" cy="1298448"/>
          </a:xfrm>
          <a:prstGeom prst="roundRect">
            <a:avLst>
              <a:gd name="adj" fmla="val 5634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1328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444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cities and years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8105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and air data don't match in time, so we put both on one shared clock and say so openly.</a:t>
            </a:r>
            <a:endParaRPr lang="en-US" sz="1250" dirty="0"/>
          </a:p>
        </p:txBody>
      </p:sp>
      <p:sp>
        <p:nvSpPr>
          <p:cNvPr id="8" name="lesson1"/>
          <p:cNvSpPr/>
          <p:nvPr/>
        </p:nvSpPr>
        <p:spPr>
          <a:xfrm>
            <a:off x="4663440" y="1280160"/>
            <a:ext cx="4023360" cy="1298448"/>
          </a:xfrm>
          <a:prstGeom prst="roundRect">
            <a:avLst>
              <a:gd name="adj" fmla="val 5634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8132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40680" y="1444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keeps growing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40680" y="18105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 can't predict above past values, so they predict the change from the last hour instead.</a:t>
            </a:r>
            <a:endParaRPr lang="en-US" sz="1250" dirty="0"/>
          </a:p>
        </p:txBody>
      </p:sp>
      <p:sp>
        <p:nvSpPr>
          <p:cNvPr id="12" name="lesson2"/>
          <p:cNvSpPr/>
          <p:nvPr/>
        </p:nvSpPr>
        <p:spPr>
          <a:xfrm>
            <a:off x="457200" y="2743200"/>
            <a:ext cx="4023360" cy="1298448"/>
          </a:xfrm>
          <a:prstGeom prst="roundRect">
            <a:avLst>
              <a:gd name="adj" fmla="val 5634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4436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2907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sensors drift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327355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 estimate slowly reads too high, so recent real readings are used to recalibrate it.</a:t>
            </a:r>
            <a:endParaRPr lang="en-US" sz="1250" dirty="0"/>
          </a:p>
        </p:txBody>
      </p:sp>
      <p:sp>
        <p:nvSpPr>
          <p:cNvPr id="16" name="lesson3"/>
          <p:cNvSpPr/>
          <p:nvPr/>
        </p:nvSpPr>
        <p:spPr>
          <a:xfrm>
            <a:off x="4663440" y="2743200"/>
            <a:ext cx="4023360" cy="1298448"/>
          </a:xfrm>
          <a:prstGeom prst="roundRect">
            <a:avLst>
              <a:gd name="adj" fmla="val 5634"/>
            </a:avLst>
          </a:prstGeom>
          <a:solidFill>
            <a:srgbClr val="17293F"/>
          </a:solidFill>
          <a:ln w="9525">
            <a:solidFill>
              <a:srgbClr val="2A426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94436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40680" y="2907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on Windows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5440680" y="327355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Java + winutils; one setup script installs everything and tests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058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 </a:t>
            </a:r>
            <a:pPr indent="0" marL="0">
              <a:buNone/>
            </a:pPr>
            <a:r>
              <a:rPr lang="en-US" sz="15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traffic, air and weather; CSV, CSV and API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57276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 </a:t>
            </a:r>
            <a:pPr indent="0" marL="0">
              <a:buNone/>
            </a:pPr>
            <a:r>
              <a:rPr lang="en-US" sz="15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→ Spark streaming → storage → dashboard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39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139696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time:  </a:t>
            </a:r>
            <a:pPr indent="0" marL="0">
              <a:buNone/>
            </a:pPr>
            <a:r>
              <a:rPr lang="en-US" sz="15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2.8 s (target 10 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706624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06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70662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  </a:t>
            </a:r>
            <a:pPr indent="0" marL="0">
              <a:buNone/>
            </a:pPr>
            <a:r>
              <a:rPr lang="en-US" sz="15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forecast 25% better than guessing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73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27355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 </a:t>
            </a:r>
            <a:pPr indent="0" marL="0">
              <a:buNone/>
            </a:pPr>
            <a:r>
              <a:rPr lang="en-US" sz="15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charts and smart alerts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smart city is not a city full of sensors. It is a city that turns data into timely decisions."</a:t>
            </a:r>
            <a:endParaRPr lang="en-US" sz="1600" dirty="0"/>
          </a:p>
        </p:txBody>
      </p:sp>
      <p:sp>
        <p:nvSpPr>
          <p:cNvPr id="20" name="Text 0"/>
          <p:cNvSpPr/>
          <p:nvPr>
            <p:ph idx="101" type="body" hasCustomPrompt="1"/>
          </p:nvPr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City">
  <a:themeElements>
    <a:clrScheme name="Smart City">
      <a:dk1>
        <a:srgbClr val="0E1B2C"/>
      </a:dk1>
      <a:lt1>
        <a:srgbClr val="FFFFFF"/>
      </a:lt1>
      <a:dk2>
        <a:srgbClr val="17293F"/>
      </a:dk2>
      <a:lt2>
        <a:srgbClr val="A9B8CC"/>
      </a:lt2>
      <a:accent1>
        <a:srgbClr val="22D3EE"/>
      </a:accent1>
      <a:accent2>
        <a:srgbClr val="2DD4BF"/>
      </a:accent2>
      <a:accent3>
        <a:srgbClr val="F5B841"/>
      </a:accent3>
      <a:accent4>
        <a:srgbClr val="FB7185"/>
      </a:accent4>
      <a:accent5>
        <a:srgbClr val="818CF8"/>
      </a:accent5>
      <a:accent6>
        <a:srgbClr val="2A4262"/>
      </a:accent6>
      <a:hlink>
        <a:srgbClr val="22D3EE"/>
      </a:hlink>
      <a:folHlink>
        <a:srgbClr val="2DD4BF"/>
      </a:folHlink>
    </a:clrScheme>
    <a:fontScheme name="Smart Cit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City IoT Data Platform</dc:title>
  <dc:subject>PptxGenJS Presentation</dc:subject>
  <dc:creator>PptxGenJS</dc:creator>
  <cp:lastModifiedBy>PptxGenJS</cp:lastModifiedBy>
  <cp:revision>1</cp:revision>
  <dcterms:created xsi:type="dcterms:W3CDTF">2026-10-07T17:27:49Z</dcterms:created>
  <dcterms:modified xsi:type="dcterms:W3CDTF">2026-10-07T17:27:49Z</dcterms:modified>
</cp:coreProperties>
</file>